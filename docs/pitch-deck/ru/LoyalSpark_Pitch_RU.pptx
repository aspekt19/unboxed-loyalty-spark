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8CFF"/>
                </a:solidFill>
                <a:latin typeface="Inter"/>
              </a:rPr>
              <a:t>⚡ ONCHAIN LOYALTY PROTOCOL · BASE MAINNET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600" b="1">
                <a:solidFill>
                  <a:srgbClr val="FFFFFF"/>
                </a:solidFill>
                <a:latin typeface="Inter"/>
              </a:rPr>
              <a:t>Loyal Spark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EEF2FF"/>
                </a:solidFill>
                <a:latin typeface="Inter"/>
              </a:rPr>
              <a:t>Программы лояльности нового поколения для бизнеса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EEF2FF"/>
                </a:solidFill>
                <a:latin typeface="Inter"/>
              </a:rPr>
              <a:t>управляемые людьми и AI-агентами.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937760"/>
            <a:ext cx="1933956" cy="457200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>
                <a:solidFill>
                  <a:srgbClr val="9AA7C7"/>
                </a:solidFill>
                <a:latin typeface="Inter"/>
              </a:rPr>
              <a:t>🔗 Построено на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1508" y="4937760"/>
            <a:ext cx="1467612" cy="457200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>
                <a:solidFill>
                  <a:srgbClr val="9AA7C7"/>
                </a:solidFill>
                <a:latin typeface="Inter"/>
              </a:rPr>
              <a:t>💵 USDC-native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4937760"/>
            <a:ext cx="2322576" cy="457200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>
                <a:solidFill>
                  <a:srgbClr val="9AA7C7"/>
                </a:solidFill>
                <a:latin typeface="Inter"/>
              </a:rPr>
              <a:t>🤖 REST + MCP для агентов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4937760"/>
            <a:ext cx="1933956" cy="457200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>
                <a:solidFill>
                  <a:srgbClr val="9AA7C7"/>
                </a:solidFill>
                <a:latin typeface="Inter"/>
              </a:rPr>
              <a:t>🌐 loyalspark.online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7C7"/>
                </a:solidFill>
                <a:latin typeface="Inter"/>
              </a:rPr>
              <a:t>Презентация для инвесторов и корпоративных партнёров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716889" cy="384048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01 ·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2FF"/>
                </a:solidFill>
                <a:latin typeface="Inter"/>
              </a:rPr>
              <a:t>Лояльность застряла в прошлом веке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A7C7"/>
                </a:solidFill>
                <a:latin typeface="Inter"/>
              </a:rPr>
              <a:t>Традиционные программы дороги для бизнеса, бесполезны для клиента и закрыты для автоматизации.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852928"/>
            <a:ext cx="287121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Дорого для бизнеса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Legacy-SaaS берёт $99–499/мес или удерживает 15–30% с оборота программы.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65176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852928"/>
            <a:ext cx="287121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🔒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Баллы не принадлежат клиенту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Это строка в чужой базе данных: их обесценивают, «сжигают» по сроку и нельзя перенести.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65176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852928"/>
            <a:ext cx="287121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Закрыто для агентов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Программы изолированы, нет API для AI-агентов и машинных платежей — главного тренда 2025–2027.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EF2FF"/>
                </a:solidFill>
                <a:latin typeface="Inter"/>
              </a:rPr>
              <a:t>Loyal</a:t>
            </a:r>
            <a:r>
              <a:rPr sz="1100" b="1">
                <a:solidFill>
                  <a:srgbClr val="5B8CFF"/>
                </a:solidFill>
                <a:latin typeface="Inter"/>
              </a:rPr>
              <a:t>Spark</a:t>
            </a:r>
            <a:r>
              <a:rPr sz="1100" b="0">
                <a:solidFill>
                  <a:srgbClr val="9AA7C7"/>
                </a:solidFill>
                <a:latin typeface="Inter"/>
              </a:rPr>
              <a:t>  ·  Onchain Loyalty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C7"/>
                </a:solidFill>
                <a:latin typeface="Inter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700430" cy="384048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02 ·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2FF"/>
                </a:solidFill>
                <a:latin typeface="Inter"/>
              </a:rPr>
              <a:t>Двухрежимная платформа лояльности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A7C7"/>
                </a:solidFill>
                <a:latin typeface="Inter"/>
              </a:rPr>
              <a:t>Один протокол — два интерфейса: люди через портал, AI-агенты через API и MCP. Общие смарт-контракты, токены и БД.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852928"/>
            <a:ext cx="287121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Владейте программой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Разверните свой ERC-20 токен лояльности на Base. Эмиссия, переводы и погашение — onchain.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65176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852928"/>
            <a:ext cx="287121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Платите за использование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Предсказуемые тарифы в USDC. Без процента с оборота и скрытых блокировок.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65176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852928"/>
            <a:ext cx="287121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⚙️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Автоматизируйте агентами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AI-агенты ведут программы через REST + MCP, оплачивая вызовы микроплатежами x402 / MPP.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EF2FF"/>
                </a:solidFill>
                <a:latin typeface="Inter"/>
              </a:rPr>
              <a:t>Loyal</a:t>
            </a:r>
            <a:r>
              <a:rPr sz="1100" b="1">
                <a:solidFill>
                  <a:srgbClr val="5B8CFF"/>
                </a:solidFill>
                <a:latin typeface="Inter"/>
              </a:rPr>
              <a:t>Spark</a:t>
            </a:r>
            <a:r>
              <a:rPr sz="1100" b="0">
                <a:solidFill>
                  <a:srgbClr val="9AA7C7"/>
                </a:solidFill>
                <a:latin typeface="Inter"/>
              </a:rPr>
              <a:t>  ·  Onchain Loyalty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C7"/>
                </a:solidFill>
                <a:latin typeface="Inter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799185" cy="384048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03 · ПОЧЕМУ СЕЙЧАС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2FF"/>
                </a:solidFill>
                <a:latin typeface="Inter"/>
              </a:rPr>
              <a:t>Сходятся три волны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0515600" cy="114300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59152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5B8CFF"/>
                </a:solidFill>
                <a:latin typeface="Inter"/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04288"/>
            <a:ext cx="9235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Inter"/>
              </a:rPr>
              <a:t>Экономика AI-агентов.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AA7C7"/>
                </a:solidFill>
                <a:latin typeface="Inter"/>
              </a:rPr>
              <a:t>Агенты уже совершают покупки и платят за API. Нужны программируемые сервисы с машинной оплатой — мы такими родились.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10515600" cy="114300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685032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5B8CFF"/>
                </a:solidFill>
                <a:latin typeface="Inter"/>
              </a:rPr>
              <a:t>⛓️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30168"/>
            <a:ext cx="9235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Inter"/>
              </a:rPr>
              <a:t>Стейблкоины и L2 стали зрелыми.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AA7C7"/>
                </a:solidFill>
                <a:latin typeface="Inter"/>
              </a:rPr>
              <a:t>Base + USDC дают мгновенные расчёты с копеечной комиссией — onchain-лояльность наконец рентабельна.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54880"/>
            <a:ext cx="10515600" cy="114300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10912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5B8CFF"/>
                </a:solidFill>
                <a:latin typeface="Inter"/>
              </a:rPr>
              <a:t>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956048"/>
            <a:ext cx="9235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Inter"/>
              </a:rPr>
              <a:t>Давление на маржу ритейла.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AA7C7"/>
                </a:solidFill>
                <a:latin typeface="Inter"/>
              </a:rPr>
              <a:t>Бизнес ищет дешёвые инструменты удержания. Мы убираем процент с оборота и дорогую SaaS-абонплату.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EF2FF"/>
                </a:solidFill>
                <a:latin typeface="Inter"/>
              </a:rPr>
              <a:t>Loyal</a:t>
            </a:r>
            <a:r>
              <a:rPr sz="1100" b="1">
                <a:solidFill>
                  <a:srgbClr val="5B8CFF"/>
                </a:solidFill>
                <a:latin typeface="Inter"/>
              </a:rPr>
              <a:t>Spark</a:t>
            </a:r>
            <a:r>
              <a:rPr sz="1100" b="0">
                <a:solidFill>
                  <a:srgbClr val="9AA7C7"/>
                </a:solidFill>
                <a:latin typeface="Inter"/>
              </a:rPr>
              <a:t>  ·  Onchain Loyalty 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C7"/>
                </a:solidFill>
                <a:latin typeface="Inter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667512" cy="384048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04 · РЫНОК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2FF"/>
                </a:solidFill>
                <a:latin typeface="Inter"/>
              </a:rPr>
              <a:t>Большой и недоинвестированный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21762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5B8CFF"/>
                </a:solidFill>
                <a:latin typeface="Inter"/>
              </a:rPr>
              <a:t>~$16B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49040"/>
            <a:ext cx="21762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7C7"/>
                </a:solidFill>
                <a:latin typeface="Inter"/>
              </a:rPr>
              <a:t>TAM — глобальный рынок loyalty management (2026)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1296" y="246888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2834640"/>
            <a:ext cx="21762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5B8CFF"/>
                </a:solidFill>
                <a:latin typeface="Inter"/>
              </a:rPr>
              <a:t>~$5B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3749040"/>
            <a:ext cx="21762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7C7"/>
                </a:solidFill>
                <a:latin typeface="Inter"/>
              </a:rPr>
              <a:t>SAM — цифровая / cloud-лояльность SMB и mid-market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46888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834640"/>
            <a:ext cx="21762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5B8CFF"/>
                </a:solidFill>
                <a:latin typeface="Inter"/>
              </a:rPr>
              <a:t>630K+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749040"/>
            <a:ext cx="21762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7C7"/>
                </a:solidFill>
                <a:latin typeface="Inter"/>
              </a:rPr>
              <a:t>SMB с программами лояльности только в США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246888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2834640"/>
            <a:ext cx="21762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5B8CFF"/>
                </a:solidFill>
                <a:latin typeface="Inter"/>
              </a:rPr>
              <a:t>$100B+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3749040"/>
            <a:ext cx="21762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7C7"/>
                </a:solidFill>
                <a:latin typeface="Inter"/>
              </a:rPr>
              <a:t>обязательств по неиспользованным баллам лояльности глобально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7C7"/>
                </a:solidFill>
                <a:latin typeface="Inter"/>
              </a:rPr>
              <a:t>Источники: Mordor / Grand View и др. по loyalty management (~$15–16B в 2026). SAM — консервативная оценка SMB / mid-market digital &amp; cloud.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EF2FF"/>
                </a:solidFill>
                <a:latin typeface="Inter"/>
              </a:rPr>
              <a:t>Loyal</a:t>
            </a:r>
            <a:r>
              <a:rPr sz="1100" b="1">
                <a:solidFill>
                  <a:srgbClr val="5B8CFF"/>
                </a:solidFill>
                <a:latin typeface="Inter"/>
              </a:rPr>
              <a:t>Spark</a:t>
            </a:r>
            <a:r>
              <a:rPr sz="1100" b="0">
                <a:solidFill>
                  <a:srgbClr val="9AA7C7"/>
                </a:solidFill>
                <a:latin typeface="Inter"/>
              </a:rPr>
              <a:t>  ·  Onchain Loyalty 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C7"/>
                </a:solidFill>
                <a:latin typeface="Inter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700430" cy="384048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05 · 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2FF"/>
                </a:solidFill>
                <a:latin typeface="Inter"/>
              </a:rPr>
              <a:t>Два портала + один программируемый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5120640" cy="365760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Inter"/>
              </a:rPr>
              <a:t>🏪 Сценарий бизнеса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0632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026664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Запуск.  </a:t>
            </a:r>
            <a:r>
              <a:rPr sz="1250" b="0">
                <a:solidFill>
                  <a:srgbClr val="9AA7C7"/>
                </a:solidFill>
                <a:latin typeface="Inter"/>
              </a:rPr>
              <a:t>ERC-20 токен лояльности на Base за минуты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9776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941064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Работа.  </a:t>
            </a:r>
            <a:r>
              <a:rPr sz="1250" b="0">
                <a:solidFill>
                  <a:srgbClr val="9AA7C7"/>
                </a:solidFill>
                <a:latin typeface="Inter"/>
              </a:rPr>
              <a:t>Начисление по email/телефону/кошельку, ваучеры, уровни, RFM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892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855464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Команда и агенты.  </a:t>
            </a:r>
            <a:r>
              <a:rPr sz="1250" b="0">
                <a:solidFill>
                  <a:srgbClr val="9AA7C7"/>
                </a:solidFill>
                <a:latin typeface="Inter"/>
              </a:rPr>
              <a:t>Филиалы, сотрудники, AI-агенты со scoped API-ключами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331720"/>
            <a:ext cx="5120640" cy="365760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514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Inter"/>
              </a:rPr>
              <a:t>👤 Сценарий клиента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0632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026664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Получение.  </a:t>
            </a:r>
            <a:r>
              <a:rPr sz="1250" b="0">
                <a:solidFill>
                  <a:srgbClr val="9AA7C7"/>
                </a:solidFill>
                <a:latin typeface="Inter"/>
              </a:rPr>
              <a:t>Токены в смарт-кошелёк (Privy / SIWE) — без знаний о крипте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9776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941064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Погашение.  </a:t>
            </a:r>
            <a:r>
              <a:rPr sz="1250" b="0">
                <a:solidFill>
                  <a:srgbClr val="9AA7C7"/>
                </a:solidFill>
                <a:latin typeface="Inter"/>
              </a:rPr>
              <a:t>Тратит на награды или обменивает P2P через onchain-эскроу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892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855464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Владение.  </a:t>
            </a:r>
            <a:r>
              <a:rPr sz="1250" b="0">
                <a:solidFill>
                  <a:srgbClr val="9AA7C7"/>
                </a:solidFill>
                <a:latin typeface="Inter"/>
              </a:rPr>
              <a:t>Токены в кошельке клиента, полностью переносимы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EF2FF"/>
                </a:solidFill>
                <a:latin typeface="Inter"/>
              </a:rPr>
              <a:t>Loyal</a:t>
            </a:r>
            <a:r>
              <a:rPr sz="1100" b="1">
                <a:solidFill>
                  <a:srgbClr val="5B8CFF"/>
                </a:solidFill>
                <a:latin typeface="Inter"/>
              </a:rPr>
              <a:t>Spark</a:t>
            </a:r>
            <a:r>
              <a:rPr sz="1100" b="0">
                <a:solidFill>
                  <a:srgbClr val="9AA7C7"/>
                </a:solidFill>
                <a:latin typeface="Inter"/>
              </a:rPr>
              <a:t>  ·  Onchain Loyalty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C7"/>
                </a:solidFill>
                <a:latin typeface="Inter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996695" cy="384048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06 · ТЕХНОЛОГИИ И БЕЗОПАСНОСТЬ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2FF"/>
                </a:solidFill>
                <a:latin typeface="Inter"/>
              </a:rPr>
              <a:t>Корпоративный уровень с первого дня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A7C7"/>
                </a:solidFill>
                <a:latin typeface="Inter"/>
              </a:rPr>
              <a:t>Архитектура, которую не стыдно показать службе безопасности крупного партнёра.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0604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80720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Гибкая аутентификация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Email / телефон / Google через Privy + встроенные кошельки; SIWE для крипто-native.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60604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80720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🛡️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Защита данных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Row Level Security на каждой таблице, scoped API-ключи lsk_/rwk_ с SHA-256.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60604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80720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MPC-кошельки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Coinbase CDP: приватные ключи не покидают защищённый анклав.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8056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68172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Открытые стандарты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OpenAPI 3.1, agent.json, MCP-каталоги (Glama, Smithery, OpenServ).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48056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468172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Платежи HTTP 402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Нативный x402 и MPP — машинная оплата без API-ключей.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48056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468172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Полный аудит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Журналирование операций, rate-limiting, Builder Code (ERC-8021).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EF2FF"/>
                </a:solidFill>
                <a:latin typeface="Inter"/>
              </a:rPr>
              <a:t>Loyal</a:t>
            </a:r>
            <a:r>
              <a:rPr sz="1100" b="1">
                <a:solidFill>
                  <a:srgbClr val="5B8CFF"/>
                </a:solidFill>
                <a:latin typeface="Inter"/>
              </a:rPr>
              <a:t>Spark</a:t>
            </a:r>
            <a:r>
              <a:rPr sz="1100" b="0">
                <a:solidFill>
                  <a:srgbClr val="9AA7C7"/>
                </a:solidFill>
                <a:latin typeface="Inter"/>
              </a:rPr>
              <a:t>  ·  Onchain Loyalty 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C7"/>
                </a:solidFill>
                <a:latin typeface="Inter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799185" cy="384048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07 · БИЗНЕС-МОДЕЛЬ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2FF"/>
                </a:solidFill>
                <a:latin typeface="Inter"/>
              </a:rPr>
              <a:t>Две оси выручки + комиссия с оборота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🏪 Merchant SaaS (USDC на Base)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97180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E0B3"/>
                </a:solidFill>
                <a:latin typeface="Inter"/>
              </a:rPr>
              <a:t>$39/мес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9718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7C7"/>
                </a:solidFill>
                <a:latin typeface="Inter"/>
              </a:rPr>
              <a:t>Портал, программы, CRM-light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538728"/>
            <a:ext cx="4572000" cy="9525"/>
          </a:xfrm>
          <a:prstGeom prst="rect">
            <a:avLst/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2160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721608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E0B3"/>
                </a:solidFill>
                <a:latin typeface="Inter"/>
              </a:rPr>
              <a:t>$79/мес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721608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7C7"/>
                </a:solidFill>
                <a:latin typeface="Inter"/>
              </a:rPr>
              <a:t>Аналитика, больше мест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288536"/>
            <a:ext cx="4572000" cy="9525"/>
          </a:xfrm>
          <a:prstGeom prst="rect">
            <a:avLst/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71416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471416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E0B3"/>
                </a:solidFill>
                <a:latin typeface="Inter"/>
              </a:rPr>
              <a:t>$149/мес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47141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7C7"/>
                </a:solidFill>
                <a:latin typeface="Inter"/>
              </a:rPr>
              <a:t>Корп-бюджеты, приоритет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5038344"/>
            <a:ext cx="4572000" cy="9525"/>
          </a:xfrm>
          <a:prstGeom prst="rect">
            <a:avLst/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219456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🤖 AI-агенты (API + MCP)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9718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97180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E0B3"/>
                </a:solidFill>
                <a:latin typeface="Inter"/>
              </a:rPr>
              <a:t>$0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9718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7C7"/>
                </a:solidFill>
                <a:latin typeface="Inter"/>
              </a:rPr>
              <a:t>200 вызовов · 1.25% mint fee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538728"/>
            <a:ext cx="4572000" cy="9525"/>
          </a:xfrm>
          <a:prstGeom prst="rect">
            <a:avLst/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72160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721608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E0B3"/>
                </a:solidFill>
                <a:latin typeface="Inter"/>
              </a:rPr>
              <a:t>$49/мес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721608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7C7"/>
                </a:solidFill>
                <a:latin typeface="Inter"/>
              </a:rPr>
              <a:t>10 000 вызовов · 0.50%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4288536"/>
            <a:ext cx="4572000" cy="9525"/>
          </a:xfrm>
          <a:prstGeom prst="rect">
            <a:avLst/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471416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Enterprise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471416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E0B3"/>
                </a:solidFill>
                <a:latin typeface="Inter"/>
              </a:rPr>
              <a:t>$129/мес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47141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7C7"/>
                </a:solidFill>
                <a:latin typeface="Inter"/>
              </a:rPr>
              <a:t>∞ вызовов · 0.25%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5038344"/>
            <a:ext cx="4572000" cy="9525"/>
          </a:xfrm>
          <a:prstGeom prst="rect">
            <a:avLst/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7C7"/>
                </a:solidFill>
                <a:latin typeface="Inter"/>
              </a:rPr>
              <a:t>Pay-per-call (x402 / MPP): от ~$0.001 за чтение, ~$0.005–0.05 за запись. Денежная выручка — подписки и оплата за вызов (предоплата в USDC). Mint fee списывается в баллах мерчанта — протокольный учёт, не ARR.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EF2FF"/>
                </a:solidFill>
                <a:latin typeface="Inter"/>
              </a:rPr>
              <a:t>Loyal</a:t>
            </a:r>
            <a:r>
              <a:rPr sz="1100" b="1">
                <a:solidFill>
                  <a:srgbClr val="5B8CFF"/>
                </a:solidFill>
                <a:latin typeface="Inter"/>
              </a:rPr>
              <a:t>Spark</a:t>
            </a:r>
            <a:r>
              <a:rPr sz="1100" b="0">
                <a:solidFill>
                  <a:srgbClr val="9AA7C7"/>
                </a:solidFill>
                <a:latin typeface="Inter"/>
              </a:rPr>
              <a:t>  ·  Onchain Loyalty Protocol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C7"/>
                </a:solidFill>
                <a:latin typeface="Inter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766267" cy="384048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08 · КОНКУРЕНЦИЯ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2FF"/>
                </a:solidFill>
                <a:latin typeface="Inter"/>
              </a:rPr>
              <a:t>Legacy-лояльность vs Loyal Spark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120640" cy="3749039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FF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77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7A90"/>
                </a:solidFill>
                <a:latin typeface="Inter"/>
              </a:rPr>
              <a:t>Традиционные платформы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7A90"/>
                </a:solidFill>
                <a:latin typeface="Inter"/>
              </a:rPr>
              <a:t>✕  </a:t>
            </a:r>
            <a:r>
              <a:rPr sz="1300" b="0">
                <a:solidFill>
                  <a:srgbClr val="9AA7C7"/>
                </a:solidFill>
                <a:latin typeface="Inter"/>
              </a:rPr>
              <a:t>Square Loyalty: $45–105/мес за точку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9300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7A90"/>
                </a:solidFill>
                <a:latin typeface="Inter"/>
              </a:rPr>
              <a:t>✕  </a:t>
            </a:r>
            <a:r>
              <a:rPr sz="1300" b="0">
                <a:solidFill>
                  <a:srgbClr val="9AA7C7"/>
                </a:solidFill>
                <a:latin typeface="Inter"/>
              </a:rPr>
              <a:t>LoyaltyLion / Yotpo: $200–700+/мес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5993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7A90"/>
                </a:solidFill>
                <a:latin typeface="Inter"/>
              </a:rPr>
              <a:t>✕  </a:t>
            </a:r>
            <a:r>
              <a:rPr sz="1300" b="0">
                <a:solidFill>
                  <a:srgbClr val="9AA7C7"/>
                </a:solidFill>
                <a:latin typeface="Inter"/>
              </a:rPr>
              <a:t>Smile.io: процент с оборота и плата за заказ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2686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7A90"/>
                </a:solidFill>
                <a:latin typeface="Inter"/>
              </a:rPr>
              <a:t>✕  </a:t>
            </a:r>
            <a:r>
              <a:rPr sz="1300" b="0">
                <a:solidFill>
                  <a:srgbClr val="9AA7C7"/>
                </a:solidFill>
                <a:latin typeface="Inter"/>
              </a:rPr>
              <a:t>Закрытые API, нет доступа для AI-агентов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19379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7A90"/>
                </a:solidFill>
                <a:latin typeface="Inter"/>
              </a:rPr>
              <a:t>✕  </a:t>
            </a:r>
            <a:r>
              <a:rPr sz="1300" b="0">
                <a:solidFill>
                  <a:srgbClr val="9AA7C7"/>
                </a:solidFill>
                <a:latin typeface="Inter"/>
              </a:rPr>
              <a:t>Баллы = строка в БД, нет реального владения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94560"/>
            <a:ext cx="5120640" cy="3749039"/>
          </a:xfrm>
          <a:prstGeom prst="roundRect">
            <a:avLst>
              <a:gd name="adj" fmla="val 6000"/>
            </a:avLst>
          </a:prstGeom>
          <a:solidFill>
            <a:srgbClr val="182347"/>
          </a:solidFill>
          <a:ln w="12700">
            <a:solidFill>
              <a:srgbClr val="27E0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7E0B3"/>
                </a:solidFill>
                <a:latin typeface="Inter"/>
              </a:rPr>
              <a:t>Loyal Spark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E0B3"/>
                </a:solidFill>
                <a:latin typeface="Inter"/>
              </a:rPr>
              <a:t>✓  </a:t>
            </a:r>
            <a:r>
              <a:rPr sz="1300" b="0">
                <a:solidFill>
                  <a:srgbClr val="EEF2FF"/>
                </a:solidFill>
                <a:latin typeface="Inter"/>
              </a:rPr>
              <a:t>Предсказуемый USDC-SaaS от $39/мес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9300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E0B3"/>
                </a:solidFill>
                <a:latin typeface="Inter"/>
              </a:rPr>
              <a:t>✓  </a:t>
            </a:r>
            <a:r>
              <a:rPr sz="1300" b="0">
                <a:solidFill>
                  <a:srgbClr val="EEF2FF"/>
                </a:solidFill>
                <a:latin typeface="Inter"/>
              </a:rPr>
              <a:t>ERC-20 токены — клиент реально ими владеет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5993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E0B3"/>
                </a:solidFill>
                <a:latin typeface="Inter"/>
              </a:rPr>
              <a:t>✓  </a:t>
            </a:r>
            <a:r>
              <a:rPr sz="1300" b="0">
                <a:solidFill>
                  <a:srgbClr val="EEF2FF"/>
                </a:solidFill>
                <a:latin typeface="Inter"/>
              </a:rPr>
              <a:t>Готово для агентов: REST + MCP, x402 / MPP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62686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E0B3"/>
                </a:solidFill>
                <a:latin typeface="Inter"/>
              </a:rPr>
              <a:t>✓  </a:t>
            </a:r>
            <a:r>
              <a:rPr sz="1300" b="0">
                <a:solidFill>
                  <a:srgbClr val="EEF2FF"/>
                </a:solidFill>
                <a:latin typeface="Inter"/>
              </a:rPr>
              <a:t>SIWE и Privy — без паролей и утечек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19379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E0B3"/>
                </a:solidFill>
                <a:latin typeface="Inter"/>
              </a:rPr>
              <a:t>✓  </a:t>
            </a:r>
            <a:r>
              <a:rPr sz="1300" b="0">
                <a:solidFill>
                  <a:srgbClr val="EEF2FF"/>
                </a:solidFill>
                <a:latin typeface="Inter"/>
              </a:rPr>
              <a:t>P2P-маркетплейс с эскроу между программами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EF2FF"/>
                </a:solidFill>
                <a:latin typeface="Inter"/>
              </a:rPr>
              <a:t>Loyal</a:t>
            </a:r>
            <a:r>
              <a:rPr sz="1100" b="1">
                <a:solidFill>
                  <a:srgbClr val="5B8CFF"/>
                </a:solidFill>
                <a:latin typeface="Inter"/>
              </a:rPr>
              <a:t>Spark</a:t>
            </a:r>
            <a:r>
              <a:rPr sz="1100" b="0">
                <a:solidFill>
                  <a:srgbClr val="9AA7C7"/>
                </a:solidFill>
                <a:latin typeface="Inter"/>
              </a:rPr>
              <a:t>  ·  Onchain Loyalty 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C7"/>
                </a:solidFill>
                <a:latin typeface="Inter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782726" cy="384048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09 · ЗАЩИЩЁННОСТЬ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2FF"/>
                </a:solidFill>
                <a:latin typeface="Inter"/>
              </a:rPr>
              <a:t>Почему нас сложно скопировать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39572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🧱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Двухрежимность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Люди (портал) + AI-агенты (API + MCP) в одном протоколе.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9456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239572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Модель «два счёта»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SaaS бизнеса + API агентов + x402 оплата за вызов — диверсификация в USDC.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19456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39572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Машинные платежи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Нативный HTTP 402 (x402/MPP) — позиция в экономике агентов.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1596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На Base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Низкие комиссии, быстрый финалити, USDC-native, экосистема Coinbase.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11480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431596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🔓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Открытые стандарты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OpenAPI, agent.json, MCP-каталоги → органический приток агентов.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431596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Токен у сообщества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65% $LOYAL — участникам, ликвидность залочена навсегда.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EF2FF"/>
                </a:solidFill>
                <a:latin typeface="Inter"/>
              </a:rPr>
              <a:t>Loyal</a:t>
            </a:r>
            <a:r>
              <a:rPr sz="1100" b="1">
                <a:solidFill>
                  <a:srgbClr val="5B8CFF"/>
                </a:solidFill>
                <a:latin typeface="Inter"/>
              </a:rPr>
              <a:t>Spark</a:t>
            </a:r>
            <a:r>
              <a:rPr sz="1100" b="0">
                <a:solidFill>
                  <a:srgbClr val="9AA7C7"/>
                </a:solidFill>
                <a:latin typeface="Inter"/>
              </a:rPr>
              <a:t>  ·  Onchain Loyalty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C7"/>
                </a:solidFill>
                <a:latin typeface="Inter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683971" cy="384048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10 · СТАТУС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2FF"/>
                </a:solidFill>
                <a:latin typeface="Inter"/>
              </a:rPr>
              <a:t>Живой продукт, не слайды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60604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5B8CFF"/>
                </a:solidFill>
                <a:latin typeface="Inter"/>
              </a:rPr>
              <a:t>Live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6576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7C7"/>
                </a:solidFill>
                <a:latin typeface="Inter"/>
              </a:rPr>
              <a:t>Развёрнут на Base Mainnet (Chain ID 8453)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1296" y="22860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2464" y="260604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5B8CFF"/>
                </a:solidFill>
                <a:latin typeface="Inter"/>
              </a:rPr>
              <a:t>Web · PWA · iOS/Android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2464" y="36576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7C7"/>
                </a:solidFill>
                <a:latin typeface="Inter"/>
              </a:rPr>
              <a:t>Capacitor 8 — мультиплатформа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2860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5B8CFF"/>
                </a:solidFill>
                <a:latin typeface="Inter"/>
              </a:rPr>
              <a:t>28 REST + 39 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576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7C7"/>
                </a:solidFill>
                <a:latin typeface="Inter"/>
              </a:rPr>
              <a:t>инструментов для агентов (+20 recipient MCP)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22860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260604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5B8CFF"/>
                </a:solidFill>
                <a:latin typeface="Inter"/>
              </a:rPr>
              <a:t>Privy + SIWE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36576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7C7"/>
                </a:solidFill>
                <a:latin typeface="Inter"/>
              </a:rPr>
              <a:t>+ scoped API-ключи и полный аудит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AA7C7"/>
                </a:solidFill>
                <a:latin typeface="Inter"/>
              </a:rPr>
              <a:t>Смарт-контракты в продакшене: </a:t>
            </a:r>
            <a:r>
              <a:rPr sz="1350" b="1">
                <a:solidFill>
                  <a:srgbClr val="EEF2FF"/>
                </a:solidFill>
                <a:latin typeface="Inter"/>
              </a:rPr>
              <a:t>LoyaltyTokenFactory 0x5F3D…dA80</a:t>
            </a:r>
            <a:r>
              <a:rPr sz="1350" b="0">
                <a:solidFill>
                  <a:srgbClr val="9AA7C7"/>
                </a:solidFill>
                <a:latin typeface="Inter"/>
              </a:rPr>
              <a:t>  ·  </a:t>
            </a:r>
            <a:r>
              <a:rPr sz="1350" b="1">
                <a:solidFill>
                  <a:srgbClr val="EEF2FF"/>
                </a:solidFill>
                <a:latin typeface="Inter"/>
              </a:rPr>
              <a:t>LoyalSparkERC20 0xe6BA…27C3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AA7C7"/>
                </a:solidFill>
                <a:latin typeface="Inter"/>
              </a:rPr>
              <a:t>Этап: pre-revenue, онбординг первых design-партнёров.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EF2FF"/>
                </a:solidFill>
                <a:latin typeface="Inter"/>
              </a:rPr>
              <a:t>Loyal</a:t>
            </a:r>
            <a:r>
              <a:rPr sz="1100" b="1">
                <a:solidFill>
                  <a:srgbClr val="5B8CFF"/>
                </a:solidFill>
                <a:latin typeface="Inter"/>
              </a:rPr>
              <a:t>Spark</a:t>
            </a:r>
            <a:r>
              <a:rPr sz="1100" b="0">
                <a:solidFill>
                  <a:srgbClr val="9AA7C7"/>
                </a:solidFill>
                <a:latin typeface="Inter"/>
              </a:rPr>
              <a:t>  ·  Onchain Loyalty 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C7"/>
                </a:solidFill>
                <a:latin typeface="Inter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782726" cy="384048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11 ·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2FF"/>
                </a:solidFill>
                <a:latin typeface="Inter"/>
              </a:rPr>
              <a:t>Сначала люди, потом канал 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8CFF"/>
                </a:solidFill>
                <a:latin typeface="Inter"/>
              </a:rPr>
              <a:t>ЭТАП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286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8CFF"/>
                </a:solidFill>
                <a:latin typeface="Inter"/>
              </a:rPr>
              <a:t>ЦЕЛЬ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8CFF"/>
                </a:solidFill>
                <a:latin typeface="Inter"/>
              </a:rPr>
              <a:t>ФОКУС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79192"/>
            <a:ext cx="10515600" cy="9525"/>
          </a:xfrm>
          <a:prstGeom prst="rect">
            <a:avLst/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E0B3"/>
                </a:solidFill>
                <a:latin typeface="Inter"/>
              </a:rPr>
              <a:t>Сейчас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78892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Первые design-партнёры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7889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7C7"/>
                </a:solidFill>
                <a:latin typeface="Inter"/>
              </a:rPr>
              <a:t>Onchain-лояльность + дашборд на 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56432"/>
            <a:ext cx="10515600" cy="9525"/>
          </a:xfrm>
          <a:prstGeom prst="rect">
            <a:avLst/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E0B3"/>
                </a:solidFill>
                <a:latin typeface="Inter"/>
              </a:rPr>
              <a:t>Q4 2026 – Q1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5661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10–25 платящих бизнесов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661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7C7"/>
                </a:solidFill>
                <a:latin typeface="Inter"/>
              </a:rPr>
              <a:t>Тарифы Starter/Growth, кейсы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33672"/>
            <a:ext cx="10515600" cy="9525"/>
          </a:xfrm>
          <a:prstGeom prst="rect">
            <a:avLst/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E0B3"/>
                </a:solidFill>
                <a:latin typeface="Inter"/>
              </a:rPr>
              <a:t>Q2–Q3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3434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100+ бизнесов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3434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7C7"/>
                </a:solidFill>
                <a:latin typeface="Inter"/>
              </a:rPr>
              <a:t>Канал агентов: OpenServ, MCP-каталоги, x402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010912"/>
            <a:ext cx="10515600" cy="9525"/>
          </a:xfrm>
          <a:prstGeom prst="rect">
            <a:avLst/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E0B3"/>
                </a:solidFill>
                <a:latin typeface="Inter"/>
              </a:rPr>
              <a:t>Q4 2027 – Q1 2028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12064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2FF"/>
                </a:solidFill>
                <a:latin typeface="Inter"/>
              </a:rPr>
              <a:t>500+ бизнесов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1206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7C7"/>
                </a:solidFill>
                <a:latin typeface="Inter"/>
              </a:rPr>
              <a:t>Мультирегиональный SaaS + выручка с агентов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EF2FF"/>
                </a:solidFill>
                <a:latin typeface="Inter"/>
              </a:rPr>
              <a:t>Loyal</a:t>
            </a:r>
            <a:r>
              <a:rPr sz="1100" b="1">
                <a:solidFill>
                  <a:srgbClr val="5B8CFF"/>
                </a:solidFill>
                <a:latin typeface="Inter"/>
              </a:rPr>
              <a:t>Spark</a:t>
            </a:r>
            <a:r>
              <a:rPr sz="1100" b="0">
                <a:solidFill>
                  <a:srgbClr val="9AA7C7"/>
                </a:solidFill>
                <a:latin typeface="Inter"/>
              </a:rPr>
              <a:t>  ·  Onchain Loyalty Protocol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C7"/>
                </a:solidFill>
                <a:latin typeface="Inter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700430" cy="384048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12 · ПРОГНОЗ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2FF"/>
                </a:solidFill>
                <a:latin typeface="Inter"/>
              </a:rPr>
              <a:t>Экономика роста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A7C7"/>
                </a:solidFill>
                <a:latin typeface="Inter"/>
              </a:rPr>
              <a:t>Сценарий на базе подписок в USDC и оплаты за вызов (x402 / MPP) — модель работает уже сегодня.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8CFF"/>
                </a:solidFill>
                <a:latin typeface="Inter"/>
              </a:rPr>
              <a:t>Метрика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6060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8CFF"/>
                </a:solidFill>
                <a:latin typeface="Inter"/>
              </a:rPr>
              <a:t>Год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6060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8CFF"/>
                </a:solidFill>
                <a:latin typeface="Inter"/>
              </a:rPr>
              <a:t>Год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6060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8CFF"/>
                </a:solidFill>
                <a:latin typeface="Inter"/>
              </a:rPr>
              <a:t>Год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99232"/>
            <a:ext cx="10515600" cy="9525"/>
          </a:xfrm>
          <a:prstGeom prst="rect">
            <a:avLst/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AA7C7"/>
                </a:solidFill>
                <a:latin typeface="Inter"/>
              </a:rPr>
              <a:t>Активные бизнесы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EF2FF"/>
                </a:solidFill>
                <a:latin typeface="Inter"/>
              </a:rPr>
              <a:t>1 000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089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EF2FF"/>
                </a:solidFill>
                <a:latin typeface="Inter"/>
              </a:rPr>
              <a:t>10 000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1089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2FF"/>
                </a:solidFill>
                <a:latin typeface="Inter"/>
              </a:rPr>
              <a:t>50 000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657600"/>
            <a:ext cx="10515600" cy="9525"/>
          </a:xfrm>
          <a:prstGeom prst="rect">
            <a:avLst/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673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AA7C7"/>
                </a:solidFill>
                <a:latin typeface="Inter"/>
              </a:rPr>
              <a:t>Объём транзакций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7673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EF2FF"/>
                </a:solidFill>
                <a:latin typeface="Inter"/>
              </a:rPr>
              <a:t>$500K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7673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EF2FF"/>
                </a:solidFill>
                <a:latin typeface="Inter"/>
              </a:rPr>
              <a:t>$10M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7673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2FF"/>
                </a:solidFill>
                <a:latin typeface="Inter"/>
              </a:rPr>
              <a:t>$100M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315968"/>
            <a:ext cx="10515600" cy="9525"/>
          </a:xfrm>
          <a:prstGeom prst="rect">
            <a:avLst/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2569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AA7C7"/>
                </a:solidFill>
                <a:latin typeface="Inter"/>
              </a:rPr>
              <a:t>Выручка протокола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2569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EF2FF"/>
                </a:solidFill>
                <a:latin typeface="Inter"/>
              </a:rPr>
              <a:t>$50K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42569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EF2FF"/>
                </a:solidFill>
                <a:latin typeface="Inter"/>
              </a:rPr>
              <a:t>$1.5M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442569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2FF"/>
                </a:solidFill>
                <a:latin typeface="Inter"/>
              </a:rPr>
              <a:t>$12M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7C7"/>
                </a:solidFill>
                <a:latin typeface="Inter"/>
              </a:rPr>
              <a:t>Прогноз иллюстративный: целевая траектория при достижении PMF и активации канала агентов. Выручка считается по платящим подписчикам и оплате за вызов, часть бизнесов остаётся на бесплатном тарифе. $LOYAL в прогноз не входит.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EF2FF"/>
                </a:solidFill>
                <a:latin typeface="Inter"/>
              </a:rPr>
              <a:t>Loyal</a:t>
            </a:r>
            <a:r>
              <a:rPr sz="1100" b="1">
                <a:solidFill>
                  <a:srgbClr val="5B8CFF"/>
                </a:solidFill>
                <a:latin typeface="Inter"/>
              </a:rPr>
              <a:t>Spark</a:t>
            </a:r>
            <a:r>
              <a:rPr sz="1100" b="0">
                <a:solidFill>
                  <a:srgbClr val="9AA7C7"/>
                </a:solidFill>
                <a:latin typeface="Inter"/>
              </a:rPr>
              <a:t>  ·  Onchain Loyalty Protocol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C7"/>
                </a:solidFill>
                <a:latin typeface="Inter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749808" cy="384048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13 · ТОКЕНОМИКА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2FF"/>
                </a:solidFill>
                <a:latin typeface="Inter"/>
              </a:rPr>
              <a:t>LOYAL — управление и ликвидность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5120640" cy="3749039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Распределение · 1 000 000 000 LOYAL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EF2FF"/>
                </a:solidFill>
                <a:latin typeface="Inter"/>
              </a:rPr>
              <a:t>Backers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971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7E0B3"/>
                </a:solidFill>
                <a:latin typeface="Inter"/>
              </a:rPr>
              <a:t>65.0%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4408"/>
            <a:ext cx="4754880" cy="128016"/>
          </a:xfrm>
          <a:prstGeom prst="roundRect">
            <a:avLst>
              <a:gd name="adj" fmla="val 50000"/>
            </a:avLst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3264408"/>
            <a:ext cx="3090672" cy="128016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3872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EF2FF"/>
                </a:solidFill>
                <a:latin typeface="Inter"/>
              </a:rPr>
              <a:t>Ликвидность (навсегда)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53872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7E0B3"/>
                </a:solidFill>
                <a:latin typeface="Inter"/>
              </a:rPr>
              <a:t>15.0%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831336"/>
            <a:ext cx="4754880" cy="128016"/>
          </a:xfrm>
          <a:prstGeom prst="roundRect">
            <a:avLst>
              <a:gd name="adj" fmla="val 50000"/>
            </a:avLst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3831336"/>
            <a:ext cx="713232" cy="128016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056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EF2FF"/>
                </a:solidFill>
                <a:latin typeface="Inter"/>
              </a:rPr>
              <a:t>Treasury (governance)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105656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7E0B3"/>
                </a:solidFill>
                <a:latin typeface="Inter"/>
              </a:rPr>
              <a:t>10.0%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398264"/>
            <a:ext cx="4754880" cy="128016"/>
          </a:xfrm>
          <a:prstGeom prst="roundRect">
            <a:avLst>
              <a:gd name="adj" fmla="val 50000"/>
            </a:avLst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4398264"/>
            <a:ext cx="475488" cy="128016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67258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EF2FF"/>
                </a:solidFill>
                <a:latin typeface="Inter"/>
              </a:rPr>
              <a:t>Founder (time-lock)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67258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7E0B3"/>
                </a:solidFill>
                <a:latin typeface="Inter"/>
              </a:rPr>
              <a:t>7.5%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965192"/>
            <a:ext cx="4754880" cy="128016"/>
          </a:xfrm>
          <a:prstGeom prst="roundRect">
            <a:avLst>
              <a:gd name="adj" fmla="val 50000"/>
            </a:avLst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51560" y="4965192"/>
            <a:ext cx="356616" cy="128016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23951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EF2FF"/>
                </a:solidFill>
                <a:latin typeface="Inter"/>
              </a:rPr>
              <a:t>Экосистема / Airdrop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23951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7E0B3"/>
                </a:solidFill>
                <a:latin typeface="Inter"/>
              </a:rPr>
              <a:t>2.5%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5532120"/>
            <a:ext cx="4754880" cy="128016"/>
          </a:xfrm>
          <a:prstGeom prst="roundRect">
            <a:avLst>
              <a:gd name="adj" fmla="val 50000"/>
            </a:avLst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1560" y="5532120"/>
            <a:ext cx="118872" cy="128016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2240280"/>
            <a:ext cx="5120640" cy="3749039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4231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Что это даёт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0175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017520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65% — участникам. </a:t>
            </a:r>
            <a:r>
              <a:rPr sz="1250" b="0">
                <a:solidFill>
                  <a:srgbClr val="9AA7C7"/>
                </a:solidFill>
                <a:latin typeface="Inter"/>
              </a:rPr>
              <a:t>Основатель ограничен 7.5% на уровне контракта, поднять нельзя.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9776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977640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Ликвидность не вывести. </a:t>
            </a:r>
            <a:r>
              <a:rPr sz="1250" b="0">
                <a:solidFill>
                  <a:srgbClr val="9AA7C7"/>
                </a:solidFill>
                <a:latin typeface="Inter"/>
              </a:rPr>
              <a:t>15% залочены в Aerodrome навсегда — вектор rug закрыт.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9377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🗳️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937760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Governance без стейкинга. </a:t>
            </a:r>
            <a:r>
              <a:rPr sz="1250" b="0">
                <a:solidFill>
                  <a:srgbClr val="9AA7C7"/>
                </a:solidFill>
                <a:latin typeface="Inter"/>
              </a:rPr>
              <a:t>Treasury разблокируется только голосованием держателей.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7C7"/>
                </a:solidFill>
                <a:latin typeface="Inter"/>
              </a:rPr>
              <a:t>Запуск на Vibestarter (Base) — аллокация зашита в контракт при деплое. Выручка платформы — подписки и оплата за вызов в USDC: $LOYAL не используется для оплаты сервиса, продукт не зависит от цены токена.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EF2FF"/>
                </a:solidFill>
                <a:latin typeface="Inter"/>
              </a:rPr>
              <a:t>Loyal</a:t>
            </a:r>
            <a:r>
              <a:rPr sz="1100" b="1">
                <a:solidFill>
                  <a:srgbClr val="5B8CFF"/>
                </a:solidFill>
                <a:latin typeface="Inter"/>
              </a:rPr>
              <a:t>Spark</a:t>
            </a:r>
            <a:r>
              <a:rPr sz="1100" b="0">
                <a:solidFill>
                  <a:srgbClr val="9AA7C7"/>
                </a:solidFill>
                <a:latin typeface="Inter"/>
              </a:rPr>
              <a:t>  ·  Onchain Loyalty Protocol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C7"/>
                </a:solidFill>
                <a:latin typeface="Inter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667512" cy="384048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14 · РАУНД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Inter"/>
              </a:rPr>
              <a:t>Seed: $3.5M – $4M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6035040" cy="3749039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EF2FF"/>
                </a:solidFill>
                <a:latin typeface="Inter"/>
              </a:rPr>
              <a:t>Команда и таланты (14 чел.)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4688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70% · $2.75M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779776"/>
            <a:ext cx="5577840" cy="146304"/>
          </a:xfrm>
          <a:prstGeom prst="roundRect">
            <a:avLst>
              <a:gd name="adj" fmla="val 50000"/>
            </a:avLst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779776"/>
            <a:ext cx="3904487" cy="146304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2724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EF2FF"/>
                </a:solidFill>
                <a:latin typeface="Inter"/>
              </a:rPr>
              <a:t>Инфраструктура и операции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127248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10% · $400K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438144"/>
            <a:ext cx="5577840" cy="146304"/>
          </a:xfrm>
          <a:prstGeom prst="roundRect">
            <a:avLst>
              <a:gd name="adj" fmla="val 50000"/>
            </a:avLst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3438144"/>
            <a:ext cx="557784" cy="146304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785616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EF2FF"/>
                </a:solidFill>
                <a:latin typeface="Inter"/>
              </a:rPr>
              <a:t>Комьюнити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785616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8% · $300K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096512"/>
            <a:ext cx="5577840" cy="146304"/>
          </a:xfrm>
          <a:prstGeom prst="roundRect">
            <a:avLst>
              <a:gd name="adj" fmla="val 50000"/>
            </a:avLst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4096512"/>
            <a:ext cx="446227" cy="146304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43984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EF2FF"/>
                </a:solidFill>
                <a:latin typeface="Inter"/>
              </a:rPr>
              <a:t>Юридич., compliance, аудиты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443984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7% · $250K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754880"/>
            <a:ext cx="5577840" cy="146304"/>
          </a:xfrm>
          <a:prstGeom prst="roundRect">
            <a:avLst>
              <a:gd name="adj" fmla="val 50000"/>
            </a:avLst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4754880"/>
            <a:ext cx="390448" cy="146304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10235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EF2FF"/>
                </a:solidFill>
                <a:latin typeface="Inter"/>
              </a:rPr>
              <a:t>Резерв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102352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5% · $200K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5413248"/>
            <a:ext cx="5577840" cy="146304"/>
          </a:xfrm>
          <a:prstGeom prst="roundRect">
            <a:avLst>
              <a:gd name="adj" fmla="val 50000"/>
            </a:avLst>
          </a:prstGeom>
          <a:solidFill>
            <a:srgbClr val="2A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" y="5413248"/>
            <a:ext cx="278892" cy="146304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40880" y="2240280"/>
            <a:ext cx="4297680" cy="3749039"/>
          </a:xfrm>
          <a:prstGeom prst="roundRect">
            <a:avLst>
              <a:gd name="adj" fmla="val 6000"/>
            </a:avLst>
          </a:prstGeom>
          <a:solidFill>
            <a:srgbClr val="182347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2606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7C7"/>
                </a:solidFill>
                <a:latin typeface="Inter"/>
              </a:rPr>
              <a:t>Pre-money оценка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97180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27E0B3"/>
                </a:solidFill>
                <a:latin typeface="Inter"/>
              </a:rPr>
              <a:t>$12–15M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97763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7C7"/>
                </a:solidFill>
                <a:latin typeface="Inter"/>
              </a:rPr>
              <a:t>Runway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34340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Inter"/>
              </a:rPr>
              <a:t>18 месяцев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34924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До product-market fit и готовности к Series 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EF2FF"/>
                </a:solidFill>
                <a:latin typeface="Inter"/>
              </a:rPr>
              <a:t>Loyal</a:t>
            </a:r>
            <a:r>
              <a:rPr sz="1100" b="1">
                <a:solidFill>
                  <a:srgbClr val="5B8CFF"/>
                </a:solidFill>
                <a:latin typeface="Inter"/>
              </a:rPr>
              <a:t>Spark</a:t>
            </a:r>
            <a:r>
              <a:rPr sz="1100" b="0">
                <a:solidFill>
                  <a:srgbClr val="9AA7C7"/>
                </a:solidFill>
                <a:latin typeface="Inter"/>
              </a:rPr>
              <a:t>  ·  Onchain Loyalty Protocol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C7"/>
                </a:solidFill>
                <a:latin typeface="Inter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766267" cy="384048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15 · ЦЕЛИ РАУНДА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2FF"/>
                </a:solidFill>
                <a:latin typeface="Inter"/>
              </a:rPr>
              <a:t>Что мы достигнем за 18 месяцев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39572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🏪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1 000+ бизнесов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Онбординг SMB в нескольких вертикалях.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9456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239572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Регулярная выручка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Подписки и оплата за вызов в USDC.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19456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39572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📈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$500K+ оборот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Транзакции через платформу.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1596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Product-Market Fit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Подтверждён с положительной юнит-экономикой.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11480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431596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Путь к прибыли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Устойчивая модель выручки.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31C3A"/>
          </a:solidFill>
          <a:ln w="12700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4315968"/>
            <a:ext cx="2871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8CFF"/>
                </a:solidFill>
                <a:latin typeface="Inter"/>
              </a:rPr>
              <a:t>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EF2FF"/>
                </a:solidFill>
                <a:latin typeface="Inter"/>
              </a:rPr>
              <a:t>Series A Ready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C7"/>
                </a:solidFill>
                <a:latin typeface="Inter"/>
              </a:rPr>
              <a:t>Сильные метрики и траектория роста.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EF2FF"/>
                </a:solidFill>
                <a:latin typeface="Inter"/>
              </a:rPr>
              <a:t>Loyal</a:t>
            </a:r>
            <a:r>
              <a:rPr sz="1100" b="1">
                <a:solidFill>
                  <a:srgbClr val="5B8CFF"/>
                </a:solidFill>
                <a:latin typeface="Inter"/>
              </a:rPr>
              <a:t>Spark</a:t>
            </a:r>
            <a:r>
              <a:rPr sz="1100" b="0">
                <a:solidFill>
                  <a:srgbClr val="9AA7C7"/>
                </a:solidFill>
                <a:latin typeface="Inter"/>
              </a:rPr>
              <a:t>  ·  Onchain Loyalty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C7"/>
                </a:solidFill>
                <a:latin typeface="Inter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430"/>
              </a:gs>
              <a:gs pos="100000">
                <a:srgbClr val="070B1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8CFF"/>
                </a:solidFill>
                <a:latin typeface="Inter"/>
              </a:rPr>
              <a:t>СПАСИБО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Inter"/>
              </a:rPr>
              <a:t>Сделаем лояльность </a:t>
            </a:r>
            <a:r>
              <a:rPr sz="4800" b="1">
                <a:solidFill>
                  <a:srgbClr val="5B8CFF"/>
                </a:solidFill>
                <a:latin typeface="Inter"/>
              </a:rPr>
              <a:t>программируемой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EF2FF"/>
                </a:solidFill>
                <a:latin typeface="Inter"/>
              </a:rPr>
              <a:t>Откроем onchain-лояльность для следующих 50 миллионов компаний — и для AI-агентов, которые работают рядом с ними.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>
                <a:solidFill>
                  <a:srgbClr val="EEF2FF"/>
                </a:solidFill>
                <a:latin typeface="Inter"/>
              </a:rPr>
              <a:t>🌐 loyalspark.online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02920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>
                <a:solidFill>
                  <a:srgbClr val="EEF2FF"/>
                </a:solidFill>
                <a:latin typeface="Inter"/>
              </a:rPr>
              <a:t>✉️ admin@loyalspark.online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029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31C3A"/>
          </a:solidFill>
          <a:ln w="9525">
            <a:solidFill>
              <a:srgbClr val="2A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>
                <a:solidFill>
                  <a:srgbClr val="EEF2FF"/>
                </a:solidFill>
                <a:latin typeface="Inter"/>
              </a:rPr>
              <a:t>𝕏 @Loyal_Spark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7C7"/>
                </a:solidFill>
                <a:latin typeface="Inter"/>
              </a:rPr>
              <a:t>© 2026 Loyal Spark · Построено на Base · USDC-native · Agent-ready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