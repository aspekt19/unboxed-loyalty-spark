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CFF"/>
                </a:solidFill>
                <a:latin typeface="Inter"/>
              </a:rPr>
              <a:t>⚡ ONCHAIN LOYALTY PROTOCOL · BASE MAINNET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7600" b="1">
                <a:solidFill>
                  <a:srgbClr val="FFFFFF"/>
                </a:solidFill>
                <a:latin typeface="Inter"/>
              </a:rPr>
              <a:t>Loyal Spark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EEF2FF"/>
                </a:solidFill>
                <a:latin typeface="Inter"/>
              </a:rPr>
              <a:t>Программы лояльности нового поколения для бизнеса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EEF2FF"/>
                </a:solidFill>
                <a:latin typeface="Inter"/>
              </a:rPr>
              <a:t>управляемые людьми и AI-агентами.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193395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🔗 Построено на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1508" y="4937760"/>
            <a:ext cx="1467612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💵 USDC-native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4937760"/>
            <a:ext cx="232257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🤖 REST + MCP для агентов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937760"/>
            <a:ext cx="1933956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>
                <a:solidFill>
                  <a:srgbClr val="9AA7C7"/>
                </a:solidFill>
                <a:latin typeface="Inter"/>
              </a:rPr>
              <a:t>🌐 loyalspark.online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Презентация для инвесторов и корпоративных партнёров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16889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01 · 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Лояльность застряла в прошлом веке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Традиционные программы дороги для бизнеса, бесполезны для клиента и закрыты для автоматизации.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Дорого для бизнеса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Legacy-SaaS берёт $99–499/мес или удерживает 15–30% с оборота программы.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Баллы не принадлежат клиенту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Это строка в чужой базе данных: их обесценивают, «сжигают» по сроку и нельзя перенести.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Закрыто для агентов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Программы изолированы, нет API для AI-агентов и машинных платежей — главного тренда 2025–2027.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02 ·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Двухрежимная платформа лояльности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Один протокол — два интерфейса: люди через портал, AI-агенты через API и MCP. Общие смарт-контракты, токены и БД.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Владейте программой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Разверните свой ERC-20 токен лояльности на Base. Эмиссия, переводы и погашение — onchain.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Платите за использование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Предсказуемые тарифы в USDC. Без процента с оборота и скрытых блокировок.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5176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52928"/>
            <a:ext cx="287121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⚙️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Автоматизируйте агентами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AI-агенты ведут программы через REST + MCP, оплачивая вызовы микроплатежами x402 / MPP.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9918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03 · ПОЧЕМУ СЕЙЧАС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Сходятся три волны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591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0428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Экономика AI-агентов.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Агенты уже совершают покупки и платят за API. Нужны программируемые сервисы с машинной оплатой — мы такими родились.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2900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68503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⛓️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3016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Стейблкоины и L2 стали зрелыми.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Base + USDC дают мгновенные расчёты с копеечной комиссией — onchain-лояльность наконец рентабельна.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8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1091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5B8CFF"/>
                </a:solidFill>
                <a:latin typeface="Inter"/>
              </a:rP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956048"/>
            <a:ext cx="9235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Давление на маржу ритейла.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Бизнес ищет дешёвые инструменты удержания. Мы убираем процент с оборота и дорогую SaaS-абонплату.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04 ·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Большой и недоинвестированный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~$16B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TAM — глобальный рынок loyalty management (2026)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~$5B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SAM — цифровая / cloud-лояльность SMB и mid-market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630K+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SMB с программами лояльности только в США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468880"/>
            <a:ext cx="2542032" cy="246888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834640"/>
            <a:ext cx="2176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5B8CFF"/>
                </a:solidFill>
                <a:latin typeface="Inter"/>
              </a:rPr>
              <a:t>$100B+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749040"/>
            <a:ext cx="21762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обязательств по неиспользованным баллам лояльности глобально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Источники: Mordor / Grand View и др. по loyalty management (~$15–16B в 2026). SAM — консервативная оценка SMB / mid-market digital &amp; cloud.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05 ·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Два портала + один программируемый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🏪 Сценарий бизнеса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0632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266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Запуск.  </a:t>
            </a:r>
            <a:r>
              <a:rPr sz="1250" b="0">
                <a:solidFill>
                  <a:srgbClr val="9AA7C7"/>
                </a:solidFill>
                <a:latin typeface="Inter"/>
              </a:rPr>
              <a:t>ERC-20 токен лояльности на Base за минуты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776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9410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Работа.  </a:t>
            </a:r>
            <a:r>
              <a:rPr sz="1250" b="0">
                <a:solidFill>
                  <a:srgbClr val="9AA7C7"/>
                </a:solidFill>
                <a:latin typeface="Inter"/>
              </a:rPr>
              <a:t>Начисление по email/телефону/кошельку, ваучеры, уровни, RFM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8920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554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Команда и агенты.  </a:t>
            </a:r>
            <a:r>
              <a:rPr sz="1250" b="0">
                <a:solidFill>
                  <a:srgbClr val="9AA7C7"/>
                </a:solidFill>
                <a:latin typeface="Inter"/>
              </a:rPr>
              <a:t>Филиалы, сотрудники, AI-агенты со scoped API-ключами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3172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👤 Сценарий клиента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0632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0266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Получение.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Токены в смарт-кошелёк (Privy / SIWE) — без знаний о крипте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9776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9410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Погашение.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Тратит на награды или обменивает P2P через onchain-эскроу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4892040"/>
            <a:ext cx="384048" cy="384048"/>
          </a:xfrm>
          <a:prstGeom prst="roundRect">
            <a:avLst>
              <a:gd name="adj" fmla="val 25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855464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Владение.  </a:t>
            </a:r>
            <a:r>
              <a:rPr sz="1250" b="0">
                <a:solidFill>
                  <a:srgbClr val="9AA7C7"/>
                </a:solidFill>
                <a:latin typeface="Inter"/>
              </a:rPr>
              <a:t>Токены в кошельке клиента, полностью переносимы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99669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06 · ТЕХНОЛОГИИ И 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Корпоративный уровень с первого дня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Архитектура, которую не стыдно показать службе безопасности крупного партнёра.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Гибкая аутентификация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Email / телефон / Google через Privy + встроенные кошельки; SIWE для крипто-native.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🛡️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Защита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Row Level Security на каждой таблице, scoped API-ключи lsk_/rwk_ с SHA-256.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6060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80720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MPC-кошельки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Coinbase CDP: приватные ключи не покидают защищённый анклав.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Открытые стандарты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OpenAPI 3.1, agent.json, MCP-каталоги (Glama, Smithery, OpenServ).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Платежи HTTP 402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Нативный x402 и MPP — машинная оплата без API-ключей.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480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4681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Полный аудит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Журналирование операций, rate-limiting, Builder Code (ERC-8021).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99185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07 ·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Две оси выручки + комиссия с оборота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🏪 Merchant SaaS (USDC на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71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9718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$39/мес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9718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Портал, программы, CRM-light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538728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216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72160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$79/мес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7216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Аналитика, больше мест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288536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7141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471416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$149/мес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4714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Корп-бюджеты, приоритет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5038344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1945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🤖 AI-агенты (API + MCP)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971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Free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9718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718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200 вызовов · 1.25% mint fee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538728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7216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72160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$49/мес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72160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10 000 вызовов · 0.50%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288536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47141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Enterprise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471416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$129/мес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4714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∞ вызовов · 0.25%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5038344"/>
            <a:ext cx="45720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Pay-per-call (x402 / MPP): от ~$0.001 за чтение, ~$0.005–0.05 за запись. Денежная выручка — подписки и оплата за вызов (предоплата в USDC). Mint fee списывается в баллах мерчанта — протокольный учёт, не ARR.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66267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08 · КОНКУРЕНЦИЯ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Legacy-лояльность vs Loyal Spark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FF7A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7A90"/>
                </a:solidFill>
                <a:latin typeface="Inter"/>
              </a:rPr>
              <a:t>Традиционные платформы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Square Loyalty: $45–105/мес за точку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9300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LoyaltyLion / Yotpo: $200–700+/мес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599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Smile.io: процент с оборота и плата за заказ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268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Закрытые API, нет доступа для AI-агентов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7A90"/>
                </a:solidFill>
                <a:latin typeface="Inter"/>
              </a:rPr>
              <a:t>✕  </a:t>
            </a:r>
            <a:r>
              <a:rPr sz="1300" b="0">
                <a:solidFill>
                  <a:srgbClr val="9AA7C7"/>
                </a:solidFill>
                <a:latin typeface="Inter"/>
              </a:rPr>
              <a:t>Баллы = строка в БД, нет реального владения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82347"/>
          </a:solidFill>
          <a:ln w="12700">
            <a:solidFill>
              <a:srgbClr val="27E0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7E0B3"/>
                </a:solidFill>
                <a:latin typeface="Inter"/>
              </a:rPr>
              <a:t>Loyal Spark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92608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Предсказуемый USDC-SaaS от $39/мес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ERC-20 токены — клиент реально ими владеет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05993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Готово для агентов: REST + MCP, x402 / MPP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SIWE и Privy — без паролей и утечек 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1937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E0B3"/>
                </a:solidFill>
                <a:latin typeface="Inter"/>
              </a:rPr>
              <a:t>✓  </a:t>
            </a:r>
            <a:r>
              <a:rPr sz="1300" b="0">
                <a:solidFill>
                  <a:srgbClr val="EEF2FF"/>
                </a:solidFill>
                <a:latin typeface="Inter"/>
              </a:rPr>
              <a:t>P2P-маркетплейс с эскроу между программами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82726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09 · ЗАЩИЩЁННОСТЬ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Почему нас сложно скопировать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Двухрежимность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Люди (портал) + AI-агенты (API + MCP) в одном протоколе.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Модель «два счёта»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SaaS бизнеса + API агентов + x402 оплата за вызов — диверсификация в USDC.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Машинные платежи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Нативный HTTP 402 (x402/MPP) — позиция в экономике агентов.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На Base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Низкие комиссии, быстрый финалити, USDC-native, экосистема Coinbase.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🔓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Открытые стандарты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OpenAPI, agent.json, MCP-каталоги → органический приток агентов.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Сетевой эффект LOYAL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Hub-and-spoke ликвидность объединяет все токены лояльности.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83971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10 · СТАТУС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Живой продукт, не слайды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Live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Развёрнут на Base Mainnet (Chain ID 8453)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2464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Web · PWA · iOS/Android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464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Capacitor 8 — мультиплатформа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28 REST + 39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инструментов для агентов (+20 recipient MCP)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286000"/>
            <a:ext cx="2542032" cy="228600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9136" y="260604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5B8CFF"/>
                </a:solidFill>
                <a:latin typeface="Inter"/>
              </a:rPr>
              <a:t>Privy + SIWE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36576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7C7"/>
                </a:solidFill>
                <a:latin typeface="Inter"/>
              </a:rPr>
              <a:t>+ scoped API-ключи и полный аудит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Смарт-контракты в продакшене: </a:t>
            </a:r>
            <a:r>
              <a:rPr sz="1350" b="1">
                <a:solidFill>
                  <a:srgbClr val="EEF2FF"/>
                </a:solidFill>
                <a:latin typeface="Inter"/>
              </a:rPr>
              <a:t>LoyaltyTokenFactory 0x5F3D…dA80</a:t>
            </a:r>
            <a:r>
              <a:rPr sz="1350" b="0">
                <a:solidFill>
                  <a:srgbClr val="9AA7C7"/>
                </a:solidFill>
                <a:latin typeface="Inter"/>
              </a:rPr>
              <a:t>  ·  </a:t>
            </a:r>
            <a:r>
              <a:rPr sz="1350" b="1">
                <a:solidFill>
                  <a:srgbClr val="EEF2FF"/>
                </a:solidFill>
                <a:latin typeface="Inter"/>
              </a:rPr>
              <a:t>LoyalSparkERC20 0xe6BA…27C3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A7C7"/>
                </a:solidFill>
                <a:latin typeface="Inter"/>
              </a:rPr>
              <a:t>Этап: pre-revenue, онбординг первых design-партнёров.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82726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11 ·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Сначала люди, потом канал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ЭТАП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2860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ЦЕЛЬ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ФОКУС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78892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Первые design-партнёры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88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Onchain-лояльность + дашборд на 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5643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Q4 2026 – Q1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10–25 платящих бизнесов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661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Тарифы Starter/Growth, кейсы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3367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Q2–Q3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3434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100+ бизнесов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434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Канал агентов: OpenServ, MCP-каталоги, x402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01091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E0B3"/>
                </a:solidFill>
                <a:latin typeface="Inter"/>
              </a:rPr>
              <a:t>Q4 2027 – Q1 2028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12064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EEF2FF"/>
                </a:solidFill>
                <a:latin typeface="Inter"/>
              </a:rPr>
              <a:t>500+ бизнесов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120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Мультирегиональный SaaS + выручка с агентов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00430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12 · ПРОГНОЗ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Экономика роста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7C7"/>
                </a:solidFill>
                <a:latin typeface="Inter"/>
              </a:rPr>
              <a:t>Сценарий на базе модели стейкинга и транзакционных комиссий — она ещё не задеплоена.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6060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B8CFF"/>
                </a:solidFill>
                <a:latin typeface="Inter"/>
              </a:rPr>
              <a:t>Год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99232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Активные бизнесы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1 000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10 000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089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50 000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657600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Total Value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$25M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76732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$150M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15968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Объём транзакций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$10M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425696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$100M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974336"/>
            <a:ext cx="10515600" cy="9525"/>
          </a:xfrm>
          <a:prstGeom prst="rect">
            <a:avLst/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A7C7"/>
                </a:solidFill>
                <a:latin typeface="Inter"/>
              </a:rPr>
              <a:t>Выручка протокола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$50K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EEF2FF"/>
                </a:solidFill>
                <a:latin typeface="Inter"/>
              </a:rPr>
              <a:t>$1.5M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5084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EF2FF"/>
                </a:solidFill>
                <a:latin typeface="Inter"/>
              </a:rPr>
              <a:t>$12M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Прогноз иллюстративный: целевая траектория при достижении PMF и активации канала агентов. Опирается на будущую модель $LOYAL, а не на текущую выручку (подписки и оплата за вызов в USDC).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49808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13 · ТОКЕНОМИКА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LOYAL — топливо экосистемы (план)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Распределение · 10 000 000 000 LOYAL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718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Экосистема / Treasury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971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4408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264408"/>
            <a:ext cx="1949500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5387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Token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5387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30%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3831336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831336"/>
            <a:ext cx="1426464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05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Команда и эдвайзеры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10565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20%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4398264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4398264"/>
            <a:ext cx="950976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67258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Ликвидность (IDL)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672584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965192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1560" y="4965192"/>
            <a:ext cx="237744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EEF2FF"/>
                </a:solidFill>
                <a:latin typeface="Inter"/>
              </a:rPr>
              <a:t>Маркетинг / Airdrop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7E0B3"/>
                </a:solidFill>
                <a:latin typeface="Inter"/>
              </a:rPr>
              <a:t>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5532120"/>
            <a:ext cx="4754880" cy="128016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5532120"/>
            <a:ext cx="190195" cy="128016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2240280"/>
            <a:ext cx="51206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Утилитарность и дефляция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0175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01752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Дефляция. </a:t>
            </a:r>
            <a:r>
              <a:rPr sz="1250" b="0">
                <a:solidFill>
                  <a:srgbClr val="9AA7C7"/>
                </a:solidFill>
                <a:latin typeface="Inter"/>
              </a:rPr>
              <a:t>8% сжигается при выводе баллов (M-token → LOYAL), защищая цену.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776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7764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Залог-стейкинг. </a:t>
            </a:r>
            <a:r>
              <a:rPr sz="1250" b="0">
                <a:solidFill>
                  <a:srgbClr val="9AA7C7"/>
                </a:solidFill>
                <a:latin typeface="Inter"/>
              </a:rPr>
              <a:t>Возвратный депозит для доступа и ликвидности (от $1 000).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377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🗳️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93776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Управление DAO. </a:t>
            </a:r>
            <a:r>
              <a:rPr sz="1250" b="0">
                <a:solidFill>
                  <a:srgbClr val="9AA7C7"/>
                </a:solidFill>
                <a:latin typeface="Inter"/>
              </a:rPr>
              <a:t>Застейканный LOYAL даёт право голоса по параметрам протокола.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$LOYAL, стейкинг и DAO пока не задеплоены — дизайн следующей фазы. Сейчас: подписки и оплата за вызов в USDC.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667512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14 · РАУНД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Seed: $3.5M – $4M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6035040" cy="3749039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Команда и таланты (14 чел.)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468880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70% · $2.75M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779776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779776"/>
            <a:ext cx="3904487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12724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Инфраструктура и операции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2724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10% · $400K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38144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3438144"/>
            <a:ext cx="557784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785616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Комьюнити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8561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8% · $300K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4096512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1560" y="4096512"/>
            <a:ext cx="446227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443984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Юридич., compliance, аудиты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443984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7% · $250K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475488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1560" y="4754880"/>
            <a:ext cx="390448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10235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EF2FF"/>
                </a:solidFill>
                <a:latin typeface="Inter"/>
              </a:rPr>
              <a:t>Резерв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10235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5% · $200K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1560" y="5413248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2A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1560" y="5413248"/>
            <a:ext cx="278892" cy="146304"/>
          </a:xfrm>
          <a:prstGeom prst="roundRect">
            <a:avLst>
              <a:gd name="adj" fmla="val 50000"/>
            </a:avLst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40880" y="2240280"/>
            <a:ext cx="4297680" cy="3749039"/>
          </a:xfrm>
          <a:prstGeom prst="roundRect">
            <a:avLst>
              <a:gd name="adj" fmla="val 6000"/>
            </a:avLst>
          </a:prstGeom>
          <a:solidFill>
            <a:srgbClr val="182347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606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Pre-money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9718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27E0B3"/>
                </a:solidFill>
                <a:latin typeface="Inter"/>
              </a:rPr>
              <a:t>$12–15M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7763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7C7"/>
                </a:solidFill>
                <a:latin typeface="Inter"/>
              </a:rPr>
              <a:t>Runway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34340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18 месяцев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3492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До product-market fit и готовности к Series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66928"/>
            <a:ext cx="766267" cy="384048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0" bIns="0"/>
          <a:lstStyle/>
          <a:p>
            <a:pPr algn="ctr"/>
            <a:r>
              <a:rPr sz="1100" b="1">
                <a:solidFill>
                  <a:srgbClr val="5B8CFF"/>
                </a:solidFill>
                <a:latin typeface="Inter"/>
              </a:rPr>
              <a:t>15 · ЦЕЛИ РАУНДА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EF2FF"/>
                </a:solidFill>
                <a:latin typeface="Inter"/>
              </a:rPr>
              <a:t>Что мы достигнем за 18 месяцев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🏪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1 000+ бизнесов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Онбординг SMB в нескольких вертикалях.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$2M+ TVL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Заблокировано в стейках бизнесов.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9572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$500K+ оборот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Транзакции через платформу.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🎯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Product-Market Fit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Подтверждён с положительной юнит-экономикой.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Путь к прибыли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Устойчивая модель выручки.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11480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31C3A"/>
          </a:solidFill>
          <a:ln w="12700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315968"/>
            <a:ext cx="287121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5B8CFF"/>
                </a:solidFill>
                <a:latin typeface="Inter"/>
              </a:rPr>
              <a:t>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EF2FF"/>
                </a:solidFill>
                <a:latin typeface="Inter"/>
              </a:rPr>
              <a:t>Series A Ready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C7"/>
                </a:solidFill>
                <a:latin typeface="Inter"/>
              </a:rPr>
              <a:t>Сильные метрики и траектория роста.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46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EF2FF"/>
                </a:solidFill>
                <a:latin typeface="Inter"/>
              </a:rPr>
              <a:t>Loyal</a:t>
            </a:r>
            <a:r>
              <a:rPr sz="1100" b="1">
                <a:solidFill>
                  <a:srgbClr val="5B8CFF"/>
                </a:solidFill>
                <a:latin typeface="Inter"/>
              </a:rPr>
              <a:t>Spark</a:t>
            </a:r>
            <a:r>
              <a:rPr sz="1100" b="0">
                <a:solidFill>
                  <a:srgbClr val="9AA7C7"/>
                </a:solidFill>
                <a:latin typeface="Inter"/>
              </a:rPr>
              <a:t>  ·  Onchain Loyalty Protocol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64465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A7C7"/>
                </a:solidFill>
                <a:latin typeface="Inter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C1430"/>
              </a:gs>
              <a:gs pos="100000">
                <a:srgbClr val="070B18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B8CFF"/>
                </a:solidFill>
                <a:latin typeface="Inter"/>
              </a:rPr>
              <a:t>СПАСИБО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Inter"/>
              </a:rPr>
              <a:t>Сделаем лояльность </a:t>
            </a:r>
            <a:r>
              <a:rPr sz="4800" b="1">
                <a:solidFill>
                  <a:srgbClr val="5B8CFF"/>
                </a:solidFill>
                <a:latin typeface="Inter"/>
              </a:rPr>
              <a:t>программируемой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EF2FF"/>
                </a:solidFill>
                <a:latin typeface="Inter"/>
              </a:rPr>
              <a:t>Откроем onchain-лояльность для следующих 50 миллионов компаний — и для AI-агентов, которые работают рядом с ними.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🌐 loyalspark.online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5029200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✉️ admin@loyalspark.online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5029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31C3A"/>
          </a:solidFill>
          <a:ln w="9525">
            <a:solidFill>
              <a:srgbClr val="2A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>
                <a:solidFill>
                  <a:srgbClr val="EEF2FF"/>
                </a:solidFill>
                <a:latin typeface="Inter"/>
              </a:rPr>
              <a:t>𝕏 @Loyal_Spark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7C7"/>
                </a:solidFill>
                <a:latin typeface="Inter"/>
              </a:rPr>
              <a:t>© 2026 Loyal Spark · Построено на Base · USDC-native · Agent-ready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